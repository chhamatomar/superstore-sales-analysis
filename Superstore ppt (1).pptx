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F9DC-C11F-449B-A916-142D46D11A3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C7B7-C166-44E3-AC6B-DA6EEB6D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76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F9DC-C11F-449B-A916-142D46D11A3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C7B7-C166-44E3-AC6B-DA6EEB6D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3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F9DC-C11F-449B-A916-142D46D11A3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C7B7-C166-44E3-AC6B-DA6EEB6D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2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F9DC-C11F-449B-A916-142D46D11A3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C7B7-C166-44E3-AC6B-DA6EEB6D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0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F9DC-C11F-449B-A916-142D46D11A3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C7B7-C166-44E3-AC6B-DA6EEB6D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78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F9DC-C11F-449B-A916-142D46D11A3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C7B7-C166-44E3-AC6B-DA6EEB6D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F9DC-C11F-449B-A916-142D46D11A3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C7B7-C166-44E3-AC6B-DA6EEB6D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10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F9DC-C11F-449B-A916-142D46D11A3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C7B7-C166-44E3-AC6B-DA6EEB6D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F9DC-C11F-449B-A916-142D46D11A3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C7B7-C166-44E3-AC6B-DA6EEB6D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50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F9DC-C11F-449B-A916-142D46D11A3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C7B7-C166-44E3-AC6B-DA6EEB6D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42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F9DC-C11F-449B-A916-142D46D11A3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C7B7-C166-44E3-AC6B-DA6EEB6D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86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0F9DC-C11F-449B-A916-142D46D11A3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3C7B7-C166-44E3-AC6B-DA6EEB6D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12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2419"/>
            <a:ext cx="121920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26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Superstore Sales Analysis:-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4" y="1799499"/>
            <a:ext cx="10515600" cy="435133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A data-driven overview of sales, profit, and customer insights.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78449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Objective:-</a:t>
            </a:r>
            <a:endParaRPr lang="en-US" sz="5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5971" y="1690688"/>
            <a:ext cx="67489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Superstore sales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key profit drivers and loss areas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regional and category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actionable insights for business growth</a:t>
            </a:r>
          </a:p>
        </p:txBody>
      </p:sp>
    </p:spTree>
    <p:extLst>
      <p:ext uri="{BB962C8B-B14F-4D97-AF65-F5344CB8AC3E}">
        <p14:creationId xmlns:p14="http://schemas.microsoft.com/office/powerpoint/2010/main" val="4073933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273685"/>
            <a:ext cx="10570029" cy="1325563"/>
          </a:xfrm>
        </p:spPr>
        <p:txBody>
          <a:bodyPr>
            <a:normAutofit/>
          </a:bodyPr>
          <a:lstStyle/>
          <a:p>
            <a:r>
              <a:rPr lang="en-US" sz="5400" dirty="0" smtClean="0"/>
              <a:t>About Dataset:-</a:t>
            </a:r>
            <a:endParaRPr lang="en-US" sz="5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22515" y="1722472"/>
            <a:ext cx="113878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order-level data for multiple years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attributes: Sales, Profit, Discount, Quantity, Category, Segment, Region,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 Superstore Dataset (Sample from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6225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583" y="365125"/>
            <a:ext cx="10609217" cy="1325563"/>
          </a:xfrm>
        </p:spPr>
        <p:txBody>
          <a:bodyPr>
            <a:normAutofit/>
          </a:bodyPr>
          <a:lstStyle/>
          <a:p>
            <a:r>
              <a:rPr lang="en-US" sz="4800" dirty="0" smtClean="0"/>
              <a:t>Data Overview:-</a:t>
            </a:r>
            <a:endParaRPr lang="en-US" sz="4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9715599"/>
              </p:ext>
            </p:extLst>
          </p:nvPr>
        </p:nvGraphicFramePr>
        <p:xfrm>
          <a:off x="838200" y="1860679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9198450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76411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439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Total Orders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9994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0955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Total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$2.3M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575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Total 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$286K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381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Average Discount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069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971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Shipping Methods:-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178" y="1690688"/>
            <a:ext cx="10515600" cy="4351338"/>
          </a:xfrm>
        </p:spPr>
        <p:txBody>
          <a:bodyPr/>
          <a:lstStyle/>
          <a:p>
            <a:r>
              <a:rPr lang="en-US" dirty="0" smtClean="0"/>
              <a:t>What is the popular Shipping Mode?</a:t>
            </a:r>
          </a:p>
          <a:p>
            <a:r>
              <a:rPr lang="en-US" dirty="0" smtClean="0"/>
              <a:t>Standard Class 59.72%</a:t>
            </a:r>
          </a:p>
          <a:p>
            <a:r>
              <a:rPr lang="en-US" dirty="0" smtClean="0"/>
              <a:t>Second Class 19.46%</a:t>
            </a:r>
          </a:p>
          <a:p>
            <a:r>
              <a:rPr lang="en-US" dirty="0" smtClean="0"/>
              <a:t>First Class 15.39%</a:t>
            </a:r>
          </a:p>
          <a:p>
            <a:r>
              <a:rPr lang="en-US" dirty="0" smtClean="0"/>
              <a:t>Same Day 5.43%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836" y="3996838"/>
            <a:ext cx="470675" cy="6090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088" y="2318479"/>
            <a:ext cx="4941712" cy="372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86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Customer Segmentation:-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Customer segment with highest number of segmentation?</a:t>
            </a:r>
          </a:p>
          <a:p>
            <a:r>
              <a:rPr lang="en-US" dirty="0" smtClean="0"/>
              <a:t>Total Customers : 9994</a:t>
            </a:r>
          </a:p>
          <a:p>
            <a:r>
              <a:rPr lang="en-US" dirty="0" smtClean="0"/>
              <a:t>Group customer based on segments:-</a:t>
            </a:r>
          </a:p>
          <a:p>
            <a:r>
              <a:rPr lang="en-US" dirty="0" smtClean="0"/>
              <a:t>51.94% Consumer</a:t>
            </a:r>
          </a:p>
          <a:p>
            <a:r>
              <a:rPr lang="en-US" dirty="0" smtClean="0"/>
              <a:t>30.22% Corporate</a:t>
            </a:r>
          </a:p>
          <a:p>
            <a:r>
              <a:rPr lang="en-US" dirty="0" smtClean="0"/>
              <a:t>17.84% Home Office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756" y="2652889"/>
            <a:ext cx="4399844" cy="352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5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178" y="27368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 smtClean="0"/>
              <a:t>Regional Performance:-</a:t>
            </a:r>
            <a:endParaRPr lang="en-US" sz="5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549" y="1453051"/>
            <a:ext cx="790633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West region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highest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South region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needs performance improvement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534" y="2583841"/>
            <a:ext cx="4775200" cy="378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7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1" y="359307"/>
            <a:ext cx="10515600" cy="1325563"/>
          </a:xfrm>
        </p:spPr>
        <p:txBody>
          <a:bodyPr/>
          <a:lstStyle/>
          <a:p>
            <a:r>
              <a:rPr lang="en-US" sz="5400" dirty="0" smtClean="0"/>
              <a:t>Sales by Category:-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20337" y="1580128"/>
            <a:ext cx="780213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contributes highest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Office Supplies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sells frequently but lower profit margin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802" y="2629520"/>
            <a:ext cx="4810796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3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Discount vs Profit:-</a:t>
            </a:r>
            <a:endParaRPr lang="en-US" sz="5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47889" y="1576373"/>
            <a:ext cx="61654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discounts → Lower profits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Controlled discount strategy recommended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066" y="2515058"/>
            <a:ext cx="5044711" cy="376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6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Monthly Sales Trend:-</a:t>
            </a:r>
            <a:endParaRPr lang="en-US" sz="5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69512" y="1536236"/>
            <a:ext cx="611577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increase during year-end (Nov–Dec)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 during mid-year (May–June)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145" y="2453094"/>
            <a:ext cx="5772956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Top Products:-</a:t>
            </a:r>
            <a:endParaRPr lang="en-US" sz="5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484040"/>
            <a:ext cx="46057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sold: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Binders, Phones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profitable: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Copiers, Chairs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072043" y="1829429"/>
            <a:ext cx="4439270" cy="541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2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Correlation Between Numerical Quantities:-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178" y="1543403"/>
            <a:ext cx="10515600" cy="4351338"/>
          </a:xfrm>
        </p:spPr>
        <p:txBody>
          <a:bodyPr/>
          <a:lstStyle/>
          <a:p>
            <a:r>
              <a:rPr lang="en-US" dirty="0" smtClean="0"/>
              <a:t>Sales </a:t>
            </a:r>
            <a:r>
              <a:rPr lang="en-US" dirty="0"/>
              <a:t>and Profit show a moderate positive correlation, meaning higher sales generally lead to higher profit.</a:t>
            </a:r>
          </a:p>
          <a:p>
            <a:r>
              <a:rPr lang="en-US" dirty="0" smtClean="0"/>
              <a:t>Discount </a:t>
            </a:r>
            <a:r>
              <a:rPr lang="en-US" dirty="0"/>
              <a:t>has a negative correlation with Profit — heavy discounts reduce profitability.</a:t>
            </a:r>
          </a:p>
          <a:p>
            <a:r>
              <a:rPr lang="en-US" dirty="0" smtClean="0"/>
              <a:t>Quantity </a:t>
            </a:r>
            <a:r>
              <a:rPr lang="en-US" dirty="0"/>
              <a:t>has only a weak correlation with Profit, showing that selling more units doesn’t always increase profit.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453" y="3883378"/>
            <a:ext cx="3955836" cy="283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4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703" y="508817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 smtClean="0"/>
              <a:t>Key Insights:-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03" y="183438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✅ Technology = Most profitable category</a:t>
            </a:r>
            <a:br>
              <a:rPr lang="en-US" dirty="0" smtClean="0"/>
            </a:br>
            <a:r>
              <a:rPr lang="en-US" dirty="0" smtClean="0"/>
              <a:t>✅ West = Best-performing region</a:t>
            </a:r>
            <a:br>
              <a:rPr lang="en-US" dirty="0" smtClean="0"/>
            </a:br>
            <a:r>
              <a:rPr lang="en-US" dirty="0" smtClean="0"/>
              <a:t>✅ Excess discount reduces profit margin</a:t>
            </a:r>
            <a:br>
              <a:rPr lang="en-US" dirty="0" smtClean="0"/>
            </a:br>
            <a:r>
              <a:rPr lang="en-US" dirty="0" smtClean="0"/>
              <a:t>✅ Consumer = Most valuable segment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49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Recommendations:-</a:t>
            </a:r>
            <a:endParaRPr lang="en-US" sz="5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7745" y="1690688"/>
            <a:ext cx="766286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discount rates in Technology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marketing in South region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 top-performing 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stock of high-selling items</a:t>
            </a:r>
          </a:p>
        </p:txBody>
      </p:sp>
    </p:spTree>
    <p:extLst>
      <p:ext uri="{BB962C8B-B14F-4D97-AF65-F5344CB8AC3E}">
        <p14:creationId xmlns:p14="http://schemas.microsoft.com/office/powerpoint/2010/main" val="400254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 smtClean="0"/>
              <a:t>The analysis highlights that improving discount control and targeting underperforming regions can significantly enhance profitability.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11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352</Words>
  <Application>Microsoft Office PowerPoint</Application>
  <PresentationFormat>Widescreen</PresentationFormat>
  <Paragraphs>63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Superstore Sales Analysis:-</vt:lpstr>
      <vt:lpstr>Objective:-</vt:lpstr>
      <vt:lpstr>About Dataset:-</vt:lpstr>
      <vt:lpstr>Data Overview:-</vt:lpstr>
      <vt:lpstr>Shipping Methods:-</vt:lpstr>
      <vt:lpstr>Customer Segmentation:-</vt:lpstr>
      <vt:lpstr>Regional Performance:-</vt:lpstr>
      <vt:lpstr>Sales by Category:- </vt:lpstr>
      <vt:lpstr>Discount vs Profit:-</vt:lpstr>
      <vt:lpstr>Monthly Sales Trend:-</vt:lpstr>
      <vt:lpstr>Top Products:-</vt:lpstr>
      <vt:lpstr>Correlation Between Numerical Quantities:-</vt:lpstr>
      <vt:lpstr>Key Insights:-</vt:lpstr>
      <vt:lpstr>Recommendations:-</vt:lpstr>
      <vt:lpstr>Conclusion:-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Prashant</dc:creator>
  <cp:lastModifiedBy>Prashant</cp:lastModifiedBy>
  <cp:revision>8</cp:revision>
  <dcterms:created xsi:type="dcterms:W3CDTF">2025-11-11T13:02:35Z</dcterms:created>
  <dcterms:modified xsi:type="dcterms:W3CDTF">2025-11-23T14:05:19Z</dcterms:modified>
</cp:coreProperties>
</file>